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941" autoAdjust="0"/>
  </p:normalViewPr>
  <p:slideViewPr>
    <p:cSldViewPr snapToGrid="0" snapToObjects="1">
      <p:cViewPr varScale="1">
        <p:scale>
          <a:sx n="73" d="100"/>
          <a:sy n="73" d="100"/>
        </p:scale>
        <p:origin x="99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0" y="-1554480"/>
            <a:ext cx="5029200" cy="5029200"/>
          </a:xfrm>
          <a:prstGeom prst="ellipse">
            <a:avLst/>
          </a:prstGeom>
          <a:noFill/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D4AF37"/>
                </a:solidFill>
                <a:latin typeface="Calibri"/>
              </a:rPr>
              <a:t>MAJOR PROJECT  ·  AI FOR THE JUDICIARY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Anavaya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E8CE7A"/>
                </a:solidFill>
                <a:latin typeface="Calibri"/>
              </a:rPr>
              <a:t>Judicial Case Priority System &amp;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114800"/>
            <a:ext cx="457200" cy="317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F2F2"/>
                </a:solidFill>
                <a:latin typeface="Calibri"/>
              </a:rPr>
              <a:t>An AI advisory system that ranks legal cases by severity, vulnerability and risk 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F2F2"/>
                </a:solidFill>
                <a:latin typeface="Calibri"/>
              </a:rPr>
              <a:t>extracting facts from court documents and deciding priority through an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F2F2"/>
                </a:solidFill>
                <a:latin typeface="Calibri"/>
              </a:rPr>
              <a:t>interpretable Decision Tree grounded in the Constitution of India.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806440"/>
            <a:ext cx="1668780" cy="3657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Hybrid NLP +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4620" y="5806440"/>
            <a:ext cx="1476756" cy="3657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Interpretable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5806440"/>
            <a:ext cx="1572768" cy="3657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Constitutional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5806440"/>
            <a:ext cx="1860804" cy="3657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FastAPI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The Challenge Before the Courts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760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52120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Backlog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Courts face millions of pending cases; urgent matters get buried.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Manual triage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Clerks scan PDFs by hand to decide hearing order.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Inconsistency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Similar cases get different urgency across benches.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No audit trail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Priority reasons are rarely documented.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Delay = injustice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Justice delayed in violent crimes is a rights violation.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46304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1463040"/>
            <a:ext cx="109728" cy="1371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66420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 dirty="0">
                <a:solidFill>
                  <a:srgbClr val="D4AF37"/>
                </a:solidFill>
                <a:latin typeface="Calibri"/>
              </a:rPr>
              <a:t>3+ crore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402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pending cases in India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035808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3035808"/>
            <a:ext cx="109728" cy="13716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3236976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4EC9B0"/>
                </a:solidFill>
                <a:latin typeface="Calibri"/>
              </a:rPr>
              <a:t>5+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81304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average civil case duration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4608576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4608576"/>
            <a:ext cx="109728" cy="1371600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4809744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06C6C"/>
                </a:solidFill>
                <a:latin typeface="Calibri"/>
              </a:rPr>
              <a:t>1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38581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per ~73,000 people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" y="5463540"/>
            <a:ext cx="5029200" cy="14173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225296" y="56738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 dirty="0">
                <a:solidFill>
                  <a:srgbClr val="D4AF37"/>
                </a:solidFill>
                <a:latin typeface="Calibri"/>
              </a:rPr>
              <a:t>THE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5984748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2F2F2"/>
                </a:solidFill>
                <a:latin typeface="Calibri"/>
              </a:rPr>
              <a:t>Use AI to rank cases consistently, transparently and at scale —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2F2F2"/>
                </a:solidFill>
                <a:latin typeface="Calibri"/>
              </a:rPr>
              <a:t>while leaving the final call to the judge.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What Anavaya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1672" cy="10515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4AF37"/>
                </a:solidFill>
                <a:latin typeface="Calibri"/>
              </a:rPr>
              <a:t>ONE-LINE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Given a raw legal PDF → extract facts with an LLM → decide priority with a Decision Tree → justify it constitutionally.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267919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310896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069080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Document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72000"/>
            <a:ext cx="217627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Reads FIRs, judgments, complaints and testimonies straight from PDF.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2788920"/>
            <a:ext cx="267919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21024" y="310896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21024" y="3172968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4069080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Fact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4572000"/>
            <a:ext cx="217627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1A1A2E"/>
                </a:solidFill>
                <a:latin typeface="Calibri"/>
              </a:rPr>
              <a:t>An LLM pulls parties, crime type, severity, vulnerability &amp; influence.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788920"/>
            <a:ext cx="267919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19088" y="310896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3172968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Calibri"/>
              </a:rPr>
              <a:t>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69080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Priority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217627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1A1A2E"/>
                </a:solidFill>
                <a:latin typeface="Calibri"/>
              </a:rPr>
              <a:t>A Decision Tree assigns High / Medium / Low — deterministic &amp; explainable.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2788920"/>
            <a:ext cx="267919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217152" y="310896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17152" y="3172968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4069080"/>
            <a:ext cx="2221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Constitutional Trace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4572000"/>
            <a:ext cx="217627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1A1A2E"/>
                </a:solidFill>
                <a:latin typeface="Calibri"/>
              </a:rPr>
              <a:t>Every priority is justified against the Constitution of India.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CORE 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LLM Extracts. The Model Decides.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4206240"/>
          </a:xfrm>
          <a:prstGeom prst="roundRect">
            <a:avLst/>
          </a:prstGeom>
          <a:solidFill>
            <a:srgbClr val="142B4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8CE7A"/>
                </a:solidFill>
                <a:latin typeface="Calibri"/>
              </a:rPr>
              <a:t>✦  LLM (Gemma)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B7C6"/>
                </a:solidFill>
                <a:latin typeface="Calibri"/>
              </a:rPr>
              <a:t>Perception layer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Reads the raw PDF text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Identifies parties &amp; legal domain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Extracts severity, vulnerability, influence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Writes a plain-language summary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Never outputs a priority or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394960" cy="4206240"/>
          </a:xfrm>
          <a:prstGeom prst="roundRect">
            <a:avLst/>
          </a:prstGeom>
          <a:solidFill>
            <a:srgbClr val="142B4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8CE7A"/>
                </a:solidFill>
                <a:latin typeface="Calibri"/>
              </a:rPr>
              <a:t>⚖  Decision Tree (CART)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4203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B7C6"/>
                </a:solidFill>
                <a:latin typeface="Calibri"/>
              </a:rPr>
              <a:t>Decision layer — the only decider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Deterministic &amp; reproducible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Trained on labelled cases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Outputs High / Medium / Low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Exposes an exact decision path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Auditable against constitutional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1">
                <a:solidFill>
                  <a:srgbClr val="D4AF37"/>
                </a:solidFill>
                <a:latin typeface="Calibri"/>
              </a:rPr>
              <a:t>Why it matters: priority is never an opaque LLM guess — it is traceable, testable and defensible.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965960" cy="13716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raw legal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2103120"/>
            <a:ext cx="192024" cy="274320"/>
          </a:xfrm>
          <a:prstGeom prst="right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3200" y="1554480"/>
            <a:ext cx="1965960" cy="1371600"/>
          </a:xfrm>
          <a:prstGeom prst="roundRect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719072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9572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extract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27448" y="2103120"/>
            <a:ext cx="192024" cy="274320"/>
          </a:xfrm>
          <a:prstGeom prst="right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937760" y="1554480"/>
            <a:ext cx="1965960" cy="1371600"/>
          </a:xfrm>
          <a:prstGeom prst="round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1719072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9572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normalize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+ rules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22008" y="2103120"/>
            <a:ext cx="192024" cy="274320"/>
          </a:xfrm>
          <a:prstGeom prst="right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0" y="1554480"/>
            <a:ext cx="1965960" cy="137160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1719072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Decision</a:t>
            </a:r>
          </a:p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39572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0B1F3A"/>
                </a:solidFill>
                <a:latin typeface="Calibri"/>
              </a:rPr>
              <a:t>assign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0B1F3A"/>
                </a:solidFill>
                <a:latin typeface="Calibri"/>
              </a:rPr>
              <a:t>priority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16568" y="2103120"/>
            <a:ext cx="192024" cy="274320"/>
          </a:xfrm>
          <a:prstGeom prst="right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26880" y="1554480"/>
            <a:ext cx="1965960" cy="1371600"/>
          </a:xfrm>
          <a:prstGeom prst="roundRect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719072"/>
            <a:ext cx="1965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39572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Excel +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graph + 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A9B7C6"/>
                </a:solidFill>
                <a:latin typeface="Calibri"/>
              </a:rPr>
              <a:t>Constitutional &amp; explanation layer runs in parallel (rule-based, deterministic):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20440"/>
            <a:ext cx="3705148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0B1F3A"/>
                </a:solidFill>
                <a:latin typeface="Calibri"/>
              </a:rPr>
              <a:t>Rights engaged (Art. 14, 21, 23/24, 300A)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90948" y="3520440"/>
            <a:ext cx="2022652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State's duty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0760" y="3520440"/>
            <a:ext cx="1938528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Applicable doctrines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26448" y="3520440"/>
            <a:ext cx="2527401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Proportionality / balancing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91009" y="3520440"/>
            <a:ext cx="2106777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Priority rules applied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DELIVERABLES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919472"/>
            <a:ext cx="1892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case_results.xlsx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440680"/>
            <a:ext cx="18928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prioritized case table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07208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807208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71800" y="4919472"/>
            <a:ext cx="1892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decision_graphs/*.md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5440680"/>
            <a:ext cx="18928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per-case Mermaid reports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65776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65776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4919472"/>
            <a:ext cx="1892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decision_graphs/*.dot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5440680"/>
            <a:ext cx="18928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raw decision-path graphs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24344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324344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88936" y="4919472"/>
            <a:ext cx="1892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priority_classifier.pkl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88936" y="5440680"/>
            <a:ext cx="18928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trained model bundle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82912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582912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747504" y="4919472"/>
            <a:ext cx="18928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/api/* FastAPI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47504" y="5440680"/>
            <a:ext cx="18928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dashboard + JSON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The Algorithms Powering Anavaya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" cy="2286000"/>
          </a:xfrm>
          <a:prstGeom prst="rect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642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2D5A8C"/>
                </a:solidFill>
                <a:latin typeface="Calibri"/>
              </a:rPr>
              <a:t>STATISTICAL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8562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TF-IDF Vectorization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6888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Term Frequency–Inverse Document Frequency turns case text into 220 numeric (unigram + bigram)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41732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25112" y="1417320"/>
            <a:ext cx="109728" cy="2286000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99432" y="1645920"/>
            <a:ext cx="457200" cy="457200"/>
          </a:xfrm>
          <a:prstGeom prst="ellipse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2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16642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A7CA5"/>
                </a:solidFill>
                <a:latin typeface="Calibri"/>
              </a:rPr>
              <a:t>CATEGORICAL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18562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Label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46888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Maps the 5 categorical fields (crime_type, severity, …) to integers the tree can split 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4" y="141732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01584" y="1417320"/>
            <a:ext cx="109728" cy="2286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75904" y="164592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16916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4" y="16642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SUPERVISED ML · 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4" y="18562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CART Decision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468880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scikit-learn DecisionTreeClassifier (Gini). Depth 8, balanced classes. The only priority decider.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67912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3867912"/>
            <a:ext cx="109728" cy="2286000"/>
          </a:xfrm>
          <a:prstGeom prst="rect">
            <a:avLst/>
          </a:prstGeom>
          <a:solidFill>
            <a:srgbClr val="8B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8B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142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1148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8B5CA6"/>
                </a:solidFill>
                <a:latin typeface="Calibri"/>
              </a:rPr>
              <a:t>DEEP LEARNING · OPTIONAL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306824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Feedforward Neural 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919472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2-layer MLP (Linear→ReLU→Linear), Adam + CrossEntropy. Demo only — not in production.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5112" y="3867912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25112" y="3867912"/>
            <a:ext cx="109728" cy="2286000"/>
          </a:xfrm>
          <a:prstGeom prst="rect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599432" y="4096512"/>
            <a:ext cx="457200" cy="457200"/>
          </a:xfrm>
          <a:prstGeom prst="ellipse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99432" y="4142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3792" y="41148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4E9B6E"/>
                </a:solidFill>
                <a:latin typeface="Calibri"/>
              </a:rPr>
              <a:t>EXPERT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3792" y="4306824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Rule-Based Heuristics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2" y="4919472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Keyword scoring &amp; policy rules for legal categorization, fallback extraction &amp; labelling.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4" y="3867912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01584" y="3867912"/>
            <a:ext cx="109728" cy="2286000"/>
          </a:xfrm>
          <a:prstGeom prst="rect">
            <a:avLst/>
          </a:prstGeom>
          <a:solidFill>
            <a:srgbClr val="C06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375904" y="4096512"/>
            <a:ext cx="457200" cy="457200"/>
          </a:xfrm>
          <a:prstGeom prst="ellipse">
            <a:avLst/>
          </a:prstGeom>
          <a:solidFill>
            <a:srgbClr val="C06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75904" y="414223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0264" y="41148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06C4E"/>
                </a:solidFill>
                <a:latin typeface="Calibri"/>
              </a:rPr>
              <a:t>GENERATIVE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0264" y="4306824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LLM Extraction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4" y="4919472"/>
            <a:ext cx="3200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NVIDIA Gemma via LangChain. Extracts structured features + summary. Never decides priority.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ALGORITHM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CART Decision Tree — The Priority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574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CART (Gini impurity)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2316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DecisionTreeClassifier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Max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8892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Min samples / leaf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5468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Class weights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52044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balanced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Categorical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88620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5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Text 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25196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220 TF-IDF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1772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Total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61772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225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Training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983480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1,616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1417320"/>
            <a:ext cx="5943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LEARNED RULES  (exported from the tree)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103120"/>
            <a:ext cx="5394960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2286000"/>
            <a:ext cx="50292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if  victim &gt; 0.03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│      →  class: High   ← any victim signal → High</a:t>
            </a:r>
          </a:p>
          <a:p>
            <a:pPr algn="l">
              <a:lnSpc>
                <a:spcPct val="130000"/>
              </a:lnSpc>
            </a:pPr>
            <a:endParaRPr sz="1200" b="0" i="0">
              <a:solidFill>
                <a:srgbClr val="1A1A2E"/>
              </a:solidFill>
              <a:latin typeface="Consolas"/>
            </a:endParaRP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else  (no victim keyword):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├── severity ≤ 2.5   → class: Low / Medium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└── severity &gt; 2.5: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      ├── influence ≤ 0.5      → Medium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      └── influence &gt; 0.5: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            └── vulnerability, tenancy, concern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               keyword splits → Medium /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98348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A9B7C6"/>
                </a:solidFill>
                <a:latin typeface="Calibri"/>
              </a:rPr>
              <a:t>Reads naturally: violent/victim-bearing cases jump to High at the root; civil disputes cascade through severity → influence → vulnerability.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PERCEPTION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Feature Extraction — LLM +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577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WHAT THE LLM EXTRACTS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157984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103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main_parties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1031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people, companies, courts involved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578608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5237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case_category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52374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8 legal domains (Tax, Criminal, …)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99232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29443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crime_type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94436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Violent / Financial / Property / Non-Violent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419856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3649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36499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Fatal / Major / Minor / No Injury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840480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7856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vulnerability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7856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High / Medium / Low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261104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206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influence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2062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power imbalance: High / Low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681728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6268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plain_summary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62686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3–4 sentence plain-language summary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4173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HOW IT'S DONE</a:t>
            </a:r>
          </a:p>
        </p:txBody>
      </p:sp>
      <p:sp>
        <p:nvSpPr>
          <p:cNvPr id="34" name="Oval 33"/>
          <p:cNvSpPr/>
          <p:nvPr/>
        </p:nvSpPr>
        <p:spPr>
          <a:xfrm>
            <a:off x="6629400" y="2139696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2176272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1031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LangChain + ChatNVIDIA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35915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with_structured_output() + Pydantic schema for clean JSON.</a:t>
            </a:r>
          </a:p>
        </p:txBody>
      </p:sp>
      <p:sp>
        <p:nvSpPr>
          <p:cNvPr id="38" name="Oval 37"/>
          <p:cNvSpPr/>
          <p:nvPr/>
        </p:nvSpPr>
        <p:spPr>
          <a:xfrm>
            <a:off x="6629400" y="2889504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292608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285292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Pydantic CaseFeatures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1089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Constrained Literal types force valid label values.</a:t>
            </a:r>
          </a:p>
        </p:txBody>
      </p:sp>
      <p:sp>
        <p:nvSpPr>
          <p:cNvPr id="42" name="Oval 41"/>
          <p:cNvSpPr/>
          <p:nvPr/>
        </p:nvSpPr>
        <p:spPr>
          <a:xfrm>
            <a:off x="6629400" y="3639312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9400" y="3675888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60273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Fallback: raw requests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85876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Direct NVIDIA API + JSON repair if LangChain unavailable.</a:t>
            </a:r>
          </a:p>
        </p:txBody>
      </p:sp>
      <p:sp>
        <p:nvSpPr>
          <p:cNvPr id="46" name="Oval 45"/>
          <p:cNvSpPr/>
          <p:nvPr/>
        </p:nvSpPr>
        <p:spPr>
          <a:xfrm>
            <a:off x="6629400" y="4389120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9400" y="4425696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35254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tune_case_features()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60857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Keyword rules normalize &amp; override LLM output to known labels.</a:t>
            </a:r>
          </a:p>
        </p:txBody>
      </p:sp>
      <p:sp>
        <p:nvSpPr>
          <p:cNvPr id="50" name="Oval 49"/>
          <p:cNvSpPr/>
          <p:nvPr/>
        </p:nvSpPr>
        <p:spPr>
          <a:xfrm>
            <a:off x="6629400" y="5138928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400" y="517550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10235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classify_legal_category()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35838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Weighted keyword scoring maps text → legal domain.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Models &amp; Components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15727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57276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572768"/>
            <a:ext cx="15819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In Production?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65960"/>
            <a:ext cx="110916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1671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Decision Tree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1671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Supervised ML · 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1671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models/priority_classifier.pkl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2148840"/>
            <a:ext cx="1399032" cy="36576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43C2A"/>
                </a:solidFill>
                <a:latin typeface="Calibri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79192"/>
            <a:ext cx="1109167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8803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Feedforward Neural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28803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Deep learning · 2-layer 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880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models/priority_dl_model.pth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2862072"/>
            <a:ext cx="1399032" cy="3657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06C6C"/>
                </a:solidFill>
                <a:latin typeface="Calibri"/>
              </a:rPr>
              <a:t>No (demo)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10916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5935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TF-IDF Vectorizer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35935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Statistical NLP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5935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bundled in pickle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3575304"/>
            <a:ext cx="1399032" cy="36576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43C2A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05656"/>
            <a:ext cx="1109167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30682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LLM Feature Extractor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40" y="430682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Generative AI · Gemma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30682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external NVIDIA NIM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4288536"/>
            <a:ext cx="1399032" cy="36576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43C2A"/>
                </a:solidFill>
                <a:latin typeface="Calibr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18888"/>
            <a:ext cx="110916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0200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Rule-Based Legal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50200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Deterministic expert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0200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constitutional_analysis.py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5001768"/>
            <a:ext cx="1399032" cy="36576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143C2A"/>
                </a:solidFill>
                <a:latin typeface="Calibri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06440"/>
            <a:ext cx="11091672" cy="685800"/>
          </a:xfrm>
          <a:prstGeom prst="roundRect">
            <a:avLst/>
          </a:prstGeom>
          <a:solidFill>
            <a:srgbClr val="FBF6E7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B5212"/>
                </a:solidFill>
                <a:latin typeface="Calibri"/>
              </a:rPr>
              <a:t>Note:  the neural network exists in the repo but is essentially unused — the production system is deliberately kept simple and interpretable.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Model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383280" cy="46177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OVERALL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 i="0">
                <a:solidFill>
                  <a:srgbClr val="FFFFFF"/>
                </a:solidFill>
                <a:latin typeface="Calibri"/>
              </a:rPr>
              <a:t>99.4%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A9B7C6"/>
                </a:solidFill>
                <a:latin typeface="Calibri"/>
              </a:rPr>
              <a:t>Test accuracy on held-out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31920"/>
            <a:ext cx="256032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E8CE7A"/>
                </a:solidFill>
                <a:latin typeface="Calibri"/>
              </a:rPr>
              <a:t>▸  </a:t>
            </a:r>
            <a:r>
              <a:rPr sz="1200">
                <a:solidFill>
                  <a:srgbClr val="F2F2F2"/>
                </a:solidFill>
                <a:latin typeface="Calibri"/>
              </a:rPr>
              <a:t>1,616 training rows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E8CE7A"/>
                </a:solidFill>
                <a:latin typeface="Calibri"/>
              </a:rPr>
              <a:t>▸  </a:t>
            </a:r>
            <a:r>
              <a:rPr sz="1200">
                <a:solidFill>
                  <a:srgbClr val="F2F2F2"/>
                </a:solidFill>
                <a:latin typeface="Calibri"/>
              </a:rPr>
              <a:t>324 held-out test rows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E8CE7A"/>
                </a:solidFill>
                <a:latin typeface="Calibri"/>
              </a:rPr>
              <a:t>▸  </a:t>
            </a:r>
            <a:r>
              <a:rPr sz="1200">
                <a:solidFill>
                  <a:srgbClr val="F2F2F2"/>
                </a:solidFill>
                <a:latin typeface="Calibri"/>
              </a:rPr>
              <a:t>Perfect High-priority 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63040"/>
            <a:ext cx="747979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6916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CLASSIFICATION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240280"/>
            <a:ext cx="6766560" cy="45720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23317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3317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3317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3317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317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69748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80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8163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8163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81635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8163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6766560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33192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4EC9B0"/>
                </a:solidFill>
                <a:latin typeface="Calibri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3192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3192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3192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3192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66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370332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382219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A7CA5"/>
                </a:solidFill>
                <a:latin typeface="Calibri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8221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8221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8221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82219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206240"/>
            <a:ext cx="6766560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26280" y="43251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A1A2E"/>
                </a:solidFill>
                <a:latin typeface="Calibri"/>
              </a:rPr>
              <a:t>avg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43251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3251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3251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43251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324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4709160"/>
            <a:ext cx="6766560" cy="45720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26280" y="48006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B1F3A"/>
                </a:solidFill>
                <a:latin typeface="Calibri"/>
              </a:rPr>
              <a:t>macro / weighted avg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800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1A1A2E"/>
                </a:solidFill>
                <a:latin typeface="Calibri"/>
              </a:rPr>
              <a:t>0.99 / 0.99 across all metrics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263640"/>
            <a:ext cx="11091672" cy="502920"/>
          </a:xfrm>
          <a:prstGeom prst="roundRect">
            <a:avLst/>
          </a:prstGeom>
          <a:solidFill>
            <a:srgbClr val="ECF6E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2960" y="63367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43C2A"/>
                </a:solidFill>
                <a:latin typeface="Calibri"/>
              </a:rPr>
              <a:t>✓  Most important result:  100% recall on High-priority cases — no critical case is ever missed.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JUSTIFICATION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Grounded in the Constitution of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7919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7919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Art.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2F2F2"/>
                </a:solidFill>
                <a:latin typeface="Calibri"/>
              </a:rPr>
              <a:t>RIGHT TO LIFE &amp; LIBERTY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222199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Violent / fatal cases → High priority. The most fundamental 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463040"/>
            <a:ext cx="267919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46704" y="1463040"/>
            <a:ext cx="2679192" cy="777240"/>
          </a:xfrm>
          <a:prstGeom prst="rect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46704" y="1572768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Art.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1920240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2F2F2"/>
                </a:solidFill>
                <a:latin typeface="Calibri"/>
              </a:rPr>
              <a:t>EQUALITY BEFORE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423160"/>
            <a:ext cx="222199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Power-imbalance cases → Medium / High. Protects the weaker side.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63040"/>
            <a:ext cx="267919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1463040"/>
            <a:ext cx="2679192" cy="777240"/>
          </a:xfrm>
          <a:prstGeom prst="rect">
            <a:avLst/>
          </a:prstGeom>
          <a:solidFill>
            <a:srgbClr val="6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1572768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Art. 23/24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920240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2F2F2"/>
                </a:solidFill>
                <a:latin typeface="Calibri"/>
              </a:rPr>
              <a:t>AGAINST EXPLOITATION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423160"/>
            <a:ext cx="222199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Trafficking, sexual assault, child labour → Critical / High.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1463040"/>
            <a:ext cx="267919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42832" y="1463040"/>
            <a:ext cx="2679192" cy="777240"/>
          </a:xfrm>
          <a:prstGeom prst="rect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42832" y="1572768"/>
            <a:ext cx="2679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Art. 300A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920240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2F2F2"/>
                </a:solidFill>
                <a:latin typeface="Calibri"/>
              </a:rPr>
              <a:t>RIGHT TO PROPERTY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423160"/>
            <a:ext cx="222199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Economic / property disputes → Medium / Low unless violent.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10916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CONSTITUTIONAL DOCTRINES APPLIED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66360"/>
            <a:ext cx="1536192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Proportionality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96312" y="5166360"/>
            <a:ext cx="2377439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Reasonable Classification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10911" y="5166360"/>
            <a:ext cx="1452067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Parens Patriae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00138" y="5166360"/>
            <a:ext cx="1536192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Natural Justice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3490" y="5166360"/>
            <a:ext cx="1536192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Basic Structure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6842" y="5166360"/>
            <a:ext cx="1283817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Severability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A9B7C6"/>
                </a:solidFill>
                <a:latin typeface="Calibri"/>
              </a:rPr>
              <a:t>Fully rule-based and deterministic — the LLM performs no constitutional reasoning. Every justification is verifiable against the Constitution.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Anavaya Deliberately Doesn't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06240"/>
          </a:xfrm>
          <a:prstGeom prst="roundRect">
            <a:avLst/>
          </a:prstGeom>
          <a:solidFill>
            <a:srgbClr val="142B4C"/>
          </a:solidFill>
          <a:ln w="12700">
            <a:solidFill>
              <a:srgbClr val="3A4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06C6C"/>
                </a:solidFill>
                <a:latin typeface="Calibri"/>
              </a:rPr>
              <a:t>✕  AVOIDED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50292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Random Forest / XGBoost / GBM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SVM, Logistic Regression, Naive Bayes, KNN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Transformer / BERT embeddings trained from scratch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LLM as the priority decider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Black-box neural nets in the hot path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Probabilistic / non-reproducible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76672" cy="4206240"/>
          </a:xfrm>
          <a:prstGeom prst="roundRect">
            <a:avLst/>
          </a:prstGeom>
          <a:solidFill>
            <a:srgbClr val="142B4C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D4AF37"/>
                </a:solidFill>
                <a:latin typeface="Calibri"/>
              </a:rPr>
              <a:t>✓  WHY — GUIDING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48463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Interpretability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judges must see exactly why a case ranks where it does.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Reproducibility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same input ⇒ same priority, every time.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Auditability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every path traces to a rule and a constitutional article.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Separation of concerns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perception (LLM) ≠ decision (tree).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Judicial sovereignty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the system advises; the judge decides.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Simplicity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the simplest model that meets the bar.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Tech Stack &amp;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09728" cy="868680"/>
          </a:xfrm>
          <a:prstGeom prst="rect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D5A8C"/>
                </a:solidFill>
                <a:latin typeface="Calibri"/>
              </a:rP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847088"/>
            <a:ext cx="777240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09928" y="1847088"/>
            <a:ext cx="86410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3764" y="1847088"/>
            <a:ext cx="86410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Uvicorn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2316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10972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514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ML / NLP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807208"/>
            <a:ext cx="129844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scikit-learn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136" y="2807208"/>
            <a:ext cx="86410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PyTorch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4972" y="2807208"/>
            <a:ext cx="777240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TF-IDF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1940" y="2807208"/>
            <a:ext cx="777240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pandas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8328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383280"/>
            <a:ext cx="109728" cy="868680"/>
          </a:xfrm>
          <a:prstGeom prst="rect">
            <a:avLst/>
          </a:prstGeom>
          <a:solidFill>
            <a:srgbClr val="8B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474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8B5CA6"/>
                </a:solidFill>
                <a:latin typeface="Calibri"/>
              </a:rPr>
              <a:t>LLM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67328"/>
            <a:ext cx="129844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NVIDIA Gemma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31136" y="3767328"/>
            <a:ext cx="1037844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LangChain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8708" y="3767328"/>
            <a:ext cx="950976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Pydantic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109728" cy="868680"/>
          </a:xfrm>
          <a:prstGeom prst="rect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434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4E9B6E"/>
                </a:solidFill>
                <a:latin typeface="Calibri"/>
              </a:rPr>
              <a:t>FRONTEND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727448"/>
            <a:ext cx="690372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D3.js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23060" y="4727448"/>
            <a:ext cx="1211580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Vanilla CSS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44368" y="4727448"/>
            <a:ext cx="1385316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Glassmorphism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0352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5303520"/>
            <a:ext cx="109728" cy="868680"/>
          </a:xfrm>
          <a:prstGeom prst="rect">
            <a:avLst/>
          </a:prstGeom>
          <a:solidFill>
            <a:srgbClr val="C06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3949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06C4E"/>
                </a:solidFill>
                <a:latin typeface="Calibri"/>
              </a:rPr>
              <a:t>DATA / 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687568"/>
            <a:ext cx="950976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openpyxl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83664" y="5687568"/>
            <a:ext cx="1559052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PyMuPDF / pypdf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52444" y="5687568"/>
            <a:ext cx="129844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Graphviz DOT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1463040"/>
            <a:ext cx="5148072" cy="46634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WEB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Interactive Case Board</a:t>
            </a:r>
          </a:p>
        </p:txBody>
      </p:sp>
      <p:sp>
        <p:nvSpPr>
          <p:cNvPr id="43" name="Oval 42"/>
          <p:cNvSpPr/>
          <p:nvPr/>
        </p:nvSpPr>
        <p:spPr>
          <a:xfrm>
            <a:off x="6766560" y="2670048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95160" y="26060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Case listing &amp; 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84378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search parties / summaries, filter by category &amp; priority.</a:t>
            </a:r>
          </a:p>
        </p:txBody>
      </p:sp>
      <p:sp>
        <p:nvSpPr>
          <p:cNvPr id="46" name="Oval 45"/>
          <p:cNvSpPr/>
          <p:nvPr/>
        </p:nvSpPr>
        <p:spPr>
          <a:xfrm>
            <a:off x="6766560" y="3328416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95160" y="326440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Global decision tree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350215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D3.js tree; click a case to glow its exact path.</a:t>
            </a:r>
          </a:p>
        </p:txBody>
      </p:sp>
      <p:sp>
        <p:nvSpPr>
          <p:cNvPr id="49" name="Oval 48"/>
          <p:cNvSpPr/>
          <p:nvPr/>
        </p:nvSpPr>
        <p:spPr>
          <a:xfrm>
            <a:off x="6766560" y="3986784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95160" y="392277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Case breakdown panel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41605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severity, vulnerability, influence &amp; step cards.</a:t>
            </a:r>
          </a:p>
        </p:txBody>
      </p:sp>
      <p:sp>
        <p:nvSpPr>
          <p:cNvPr id="52" name="Oval 51"/>
          <p:cNvSpPr/>
          <p:nvPr/>
        </p:nvSpPr>
        <p:spPr>
          <a:xfrm>
            <a:off x="6766560" y="4645152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95160" y="458114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Constitutional trace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81888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rights engaged, doctrines &amp; state's-duty opinion.</a:t>
            </a:r>
          </a:p>
        </p:txBody>
      </p:sp>
      <p:sp>
        <p:nvSpPr>
          <p:cNvPr id="55" name="Oval 54"/>
          <p:cNvSpPr/>
          <p:nvPr/>
        </p:nvSpPr>
        <p:spPr>
          <a:xfrm>
            <a:off x="6766560" y="5303520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95160" y="52395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PDF upload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5477256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live end-to-end triage via /api/upload.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Anavaya in One Breath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240280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2697480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CE7A"/>
                </a:solidFill>
                <a:latin typeface="Calibri"/>
              </a:rPr>
              <a:t>Hybrid by design.  </a:t>
            </a:r>
            <a:r>
              <a:rPr sz="1600" b="0">
                <a:solidFill>
                  <a:srgbClr val="F2F2F2"/>
                </a:solidFill>
                <a:latin typeface="Calibri"/>
              </a:rPr>
              <a:t>An LLM (Gemma) perceives facts; a Decision Tree decides priority.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64408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17296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CE7A"/>
                </a:solidFill>
                <a:latin typeface="Calibri"/>
              </a:rPr>
              <a:t>Interpretable by construction.  </a:t>
            </a:r>
            <a:r>
              <a:rPr sz="1600" b="0">
                <a:solidFill>
                  <a:srgbClr val="F2F2F2"/>
                </a:solidFill>
                <a:latin typeface="Calibri"/>
              </a:rPr>
              <a:t>Every decision path is explicit and exportable.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31336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73989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CE7A"/>
                </a:solidFill>
                <a:latin typeface="Calibri"/>
              </a:rPr>
              <a:t>Constitutional by grounding.  </a:t>
            </a:r>
            <a:r>
              <a:rPr sz="1600" b="0">
                <a:solidFill>
                  <a:srgbClr val="F2F2F2"/>
                </a:solidFill>
                <a:latin typeface="Calibri"/>
              </a:rPr>
              <a:t>Each priority is justified against the Constitution of India.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398264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30682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CE7A"/>
                </a:solidFill>
                <a:latin typeface="Calibri"/>
              </a:rPr>
              <a:t>Advisory, never authoritative.  </a:t>
            </a:r>
            <a:r>
              <a:rPr sz="1600" b="0">
                <a:solidFill>
                  <a:srgbClr val="F2F2F2"/>
                </a:solidFill>
                <a:latin typeface="Calibri"/>
              </a:rPr>
              <a:t>Judicial sovereignty is preserved — the judge has the final word.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965192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8737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CE7A"/>
                </a:solidFill>
                <a:latin typeface="Calibri"/>
              </a:rPr>
              <a:t>Production-ready.  </a:t>
            </a:r>
            <a:r>
              <a:rPr sz="1600" b="0">
                <a:solidFill>
                  <a:srgbClr val="F2F2F2"/>
                </a:solidFill>
                <a:latin typeface="Calibri"/>
              </a:rPr>
              <a:t>FastAPI backend, D3 dashboard, Excel + graph reports, trained model bundle.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5577840"/>
            <a:ext cx="1828800" cy="317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E8CE7A"/>
                </a:solidFill>
                <a:latin typeface="Calibri"/>
              </a:rPr>
              <a:t>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1630</Words>
  <Application>Microsoft Office PowerPoint</Application>
  <PresentationFormat>Widescreen</PresentationFormat>
  <Paragraphs>358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Yeshwanth Reddy</cp:lastModifiedBy>
  <cp:revision>2</cp:revision>
  <dcterms:created xsi:type="dcterms:W3CDTF">2013-01-27T09:14:16Z</dcterms:created>
  <dcterms:modified xsi:type="dcterms:W3CDTF">2026-08-04T17:49:55Z</dcterms:modified>
  <cp:category/>
</cp:coreProperties>
</file>